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061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1ABF3-3341-4E0F-8C88-54B09C2DC80E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C0436-1B5C-4ACC-B342-BD559306E77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5442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34978-2A67-7D2F-F201-D40213385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458F899-48AB-6B42-0B78-A62DE3372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89C369E-74DF-E9AF-4E76-7FF02F0D2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4EACCC-6DE0-6C00-9892-0D2BD632A1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98559-5DEE-4ADA-829D-4D8BF4D1719D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17557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71D80-F575-462A-E2CC-B2993041F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1CE2BF-1DFC-531E-9427-1C1263BF5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1F7B08-92CA-34DC-7B1F-7E99B329B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E674-2781-4105-BAF6-3EF7A4EF4036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24DA10-3AC2-33D6-0BEB-A3D5615B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BB7313-7AAB-581F-16AF-E526CCAAE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84AF-DBAF-4FDE-87FA-3FE5B16364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9514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912A5-1ED6-5835-717E-62558B1BD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438139-CE29-1FEA-9506-A7C5E3F82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AFB21B-2382-4B03-438C-5FE072C2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E674-2781-4105-BAF6-3EF7A4EF4036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4EB2C7-7843-023E-A457-C19FB514D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FF42EE-CEB1-84F2-0ED0-E4EED9A69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84AF-DBAF-4FDE-87FA-3FE5B16364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4792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49549-356A-1C43-80D1-53AFC2055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39C915-3437-94D5-05C7-D75DF93B5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A4539C-1DA3-25F6-9B52-9E336892C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E674-2781-4105-BAF6-3EF7A4EF4036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F7A475-31FE-A3F7-0045-EA73B7BE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CDF010-8238-A45D-30D1-8D3F7D2E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84AF-DBAF-4FDE-87FA-3FE5B16364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561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99A30F-EB7C-FB9B-695A-95E900AE2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5619BD-9A45-C861-81BE-1BA021E69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49653B-39C4-F68C-2261-022165694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22233C4-7E31-8CB3-29AC-EE6AB0F9F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E674-2781-4105-BAF6-3EF7A4EF4036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CB19A8-E793-24CD-2230-6368668AB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8DF704-4FEC-EC18-3B0B-50EB9B4E6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84AF-DBAF-4FDE-87FA-3FE5B16364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7639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AA397A-220E-B282-7120-18F7B0D8F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A410CF-76FE-9985-BB7D-848FF9A8A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154854-C3DF-4C98-3431-571DA4945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7D2118E-1301-8E76-EEA9-D37F0D714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14910C9-8702-0FF7-14F0-2B6136DC4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5346DDC-61C3-66F8-91C1-DA5C42BF3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E674-2781-4105-BAF6-3EF7A4EF4036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BBCAD22-30BA-5669-F528-99AFAA273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6757DA3-8D3E-2375-3002-81A96F79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84AF-DBAF-4FDE-87FA-3FE5B16364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554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55221-1392-F6EA-22A0-E8E5492ED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7F86A74-8101-3F55-2D01-0DCE031BA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E674-2781-4105-BAF6-3EF7A4EF4036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A2C85DB-0453-C638-90B3-EB517D8D1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835F932-1CD2-7ACF-DB01-52FC76196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84AF-DBAF-4FDE-87FA-3FE5B16364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13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C716990-ED7E-74C7-6B6E-6241EFF3C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E674-2781-4105-BAF6-3EF7A4EF4036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9259CEF-778F-90ED-18F2-7F1EE1B2C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B46566-0DE8-5172-3A7C-D0707CF27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84AF-DBAF-4FDE-87FA-3FE5B16364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3704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498854-3256-C0E2-F7D7-C589CBD66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66261-18AF-60B3-21DD-E04099338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5963DE-D6AE-C6A6-BE46-E214FA045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5F4A25-6DC9-12E2-E57E-F6AD367B9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E674-2781-4105-BAF6-3EF7A4EF4036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72C4DD-0294-F981-49FE-F09D5FAA0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A2AE1F-8601-970A-2949-3815219AE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84AF-DBAF-4FDE-87FA-3FE5B16364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5678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BFF54C-2C24-B8C9-7129-78CFAD88F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9D5855C-B040-3B09-F9B0-C676238565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33E95D-5162-94C1-F6A2-288C1C226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940DE9-B1E4-4663-9C46-03E002E05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E674-2781-4105-BAF6-3EF7A4EF4036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19584B-5CA0-44D1-8055-AD4661B88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21F5EF-9C22-64A0-8F44-C75AABC8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84AF-DBAF-4FDE-87FA-3FE5B16364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014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252C6-9A95-811C-3C12-BA3F660D0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296EA9-CBF3-30BE-37ED-4F78C0F1CE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F4AB53-5546-80FE-0B5F-6CEC4318A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E674-2781-4105-BAF6-3EF7A4EF4036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D994C4-E246-A28B-182E-8BF8ABB3D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3D6D95-2553-B8F0-83A0-0BAC20DEB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84AF-DBAF-4FDE-87FA-3FE5B16364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9462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1BFC951-3BD0-0D28-7DD5-A0C5C4B352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2350F9A-2091-7325-2327-D1D2EF018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96C35F-B6F5-12CD-301C-424B2C346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E674-2781-4105-BAF6-3EF7A4EF4036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C2580C-9C64-6BE8-7397-E3CB2BAEF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41C448-DD93-C9C7-F3C3-2A88886C3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84AF-DBAF-4FDE-87FA-3FE5B16364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9715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960B1E4-0B9E-2A88-8A71-7020BF432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43C93E-1F78-35EE-070A-4158113A8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D2B17A-4F75-1E45-814B-0D79EF0326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BE674-2781-4105-BAF6-3EF7A4EF4036}" type="datetimeFigureOut">
              <a:rPr lang="es-ES" smtClean="0"/>
              <a:t>18/06/2026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C46439-12BB-2FA1-1B8F-84D5A7472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A979A2-784E-C5AD-A788-C7AC0F953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7984AF-DBAF-4FDE-87FA-3FE5B163646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3036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8F3F5-55CE-1B43-73A1-94C3099D4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think-cell data - do not delete" hidden="1">
            <a:extLst>
              <a:ext uri="{FF2B5EF4-FFF2-40B4-BE49-F238E27FC236}">
                <a16:creationId xmlns:a16="http://schemas.microsoft.com/office/drawing/2014/main" id="{60ABDAD2-177B-8540-DB7D-7CA4F4A7294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7772400" imgH="10058400" progId="TCLayout.ActiveDocument.1">
                  <p:embed/>
                </p:oleObj>
              </mc:Choice>
              <mc:Fallback>
                <p:oleObj name="Diapositiva de think-cell" r:id="rId4" imgW="7772400" imgH="10058400" progId="TCLayout.ActiveDocument.1">
                  <p:embed/>
                  <p:pic>
                    <p:nvPicPr>
                      <p:cNvPr id="15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ABDAD2-177B-8540-DB7D-7CA4F4A729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6" name="Grupo 395">
            <a:extLst>
              <a:ext uri="{FF2B5EF4-FFF2-40B4-BE49-F238E27FC236}">
                <a16:creationId xmlns:a16="http://schemas.microsoft.com/office/drawing/2014/main" id="{E7BCBB27-C59F-1483-BCAA-6866A2352D00}"/>
              </a:ext>
            </a:extLst>
          </p:cNvPr>
          <p:cNvGrpSpPr/>
          <p:nvPr/>
        </p:nvGrpSpPr>
        <p:grpSpPr>
          <a:xfrm>
            <a:off x="11721621" y="1376741"/>
            <a:ext cx="477860" cy="5481259"/>
            <a:chOff x="11721621" y="1376741"/>
            <a:chExt cx="477860" cy="5481259"/>
          </a:xfrm>
        </p:grpSpPr>
        <p:sp>
          <p:nvSpPr>
            <p:cNvPr id="3" name="Redondear rectángulo de esquina del mismo lado 2">
              <a:extLst>
                <a:ext uri="{FF2B5EF4-FFF2-40B4-BE49-F238E27FC236}">
                  <a16:creationId xmlns:a16="http://schemas.microsoft.com/office/drawing/2014/main" id="{46ECF4D9-CA0A-8C8B-206E-AA59D21E9337}"/>
                </a:ext>
              </a:extLst>
            </p:cNvPr>
            <p:cNvSpPr/>
            <p:nvPr/>
          </p:nvSpPr>
          <p:spPr>
            <a:xfrm rot="16200000">
              <a:off x="11375530" y="1888463"/>
              <a:ext cx="1335672" cy="312227"/>
            </a:xfrm>
            <a:prstGeom prst="round2Same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100">
                  <a:solidFill>
                    <a:schemeClr val="bg1"/>
                  </a:solidFill>
                </a:rPr>
                <a:t>Metodología</a:t>
              </a:r>
            </a:p>
          </p:txBody>
        </p:sp>
        <p:sp>
          <p:nvSpPr>
            <p:cNvPr id="4" name="Redondear rectángulo de esquina del mismo lado 3">
              <a:extLst>
                <a:ext uri="{FF2B5EF4-FFF2-40B4-BE49-F238E27FC236}">
                  <a16:creationId xmlns:a16="http://schemas.microsoft.com/office/drawing/2014/main" id="{D6C46C80-621B-41AC-60A2-C35E6063C0F7}"/>
                </a:ext>
              </a:extLst>
            </p:cNvPr>
            <p:cNvSpPr/>
            <p:nvPr/>
          </p:nvSpPr>
          <p:spPr>
            <a:xfrm rot="16200000">
              <a:off x="11379270" y="3274065"/>
              <a:ext cx="1335672" cy="304748"/>
            </a:xfrm>
            <a:prstGeom prst="round2Same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100">
                  <a:solidFill>
                    <a:schemeClr val="bg1"/>
                  </a:solidFill>
                </a:rPr>
                <a:t>Deserción</a:t>
              </a:r>
            </a:p>
          </p:txBody>
        </p:sp>
        <p:sp>
          <p:nvSpPr>
            <p:cNvPr id="5" name="Redondear rectángulo de esquina del mismo lado 4">
              <a:extLst>
                <a:ext uri="{FF2B5EF4-FFF2-40B4-BE49-F238E27FC236}">
                  <a16:creationId xmlns:a16="http://schemas.microsoft.com/office/drawing/2014/main" id="{F10E9AFD-4EC2-DD1D-3111-A860EFEA264E}"/>
                </a:ext>
              </a:extLst>
            </p:cNvPr>
            <p:cNvSpPr/>
            <p:nvPr/>
          </p:nvSpPr>
          <p:spPr>
            <a:xfrm rot="16200000">
              <a:off x="11375530" y="4652187"/>
              <a:ext cx="1335672" cy="312228"/>
            </a:xfrm>
            <a:prstGeom prst="round2Same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100">
                  <a:solidFill>
                    <a:schemeClr val="bg1"/>
                  </a:solidFill>
                </a:rPr>
                <a:t>Segmentos</a:t>
              </a:r>
            </a:p>
          </p:txBody>
        </p:sp>
        <p:sp>
          <p:nvSpPr>
            <p:cNvPr id="6" name="Redondear rectángulo de esquina del mismo lado 5">
              <a:extLst>
                <a:ext uri="{FF2B5EF4-FFF2-40B4-BE49-F238E27FC236}">
                  <a16:creationId xmlns:a16="http://schemas.microsoft.com/office/drawing/2014/main" id="{FFA80D79-74E7-F618-3EE8-FD1D5DDF7580}"/>
                </a:ext>
              </a:extLst>
            </p:cNvPr>
            <p:cNvSpPr/>
            <p:nvPr/>
          </p:nvSpPr>
          <p:spPr>
            <a:xfrm rot="16200000">
              <a:off x="11292715" y="5951234"/>
              <a:ext cx="1335672" cy="477860"/>
            </a:xfrm>
            <a:prstGeom prst="round2Same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100">
                  <a:solidFill>
                    <a:schemeClr val="bg1"/>
                  </a:solidFill>
                </a:rPr>
                <a:t>Hallazgos</a:t>
              </a:r>
            </a:p>
          </p:txBody>
        </p:sp>
      </p:grpSp>
      <p:sp>
        <p:nvSpPr>
          <p:cNvPr id="67" name="Redondear rectángulo de esquina del mismo lado 66">
            <a:extLst>
              <a:ext uri="{FF2B5EF4-FFF2-40B4-BE49-F238E27FC236}">
                <a16:creationId xmlns:a16="http://schemas.microsoft.com/office/drawing/2014/main" id="{20B5A8BA-1AD6-1B89-F380-4CE0B69B9898}"/>
              </a:ext>
            </a:extLst>
          </p:cNvPr>
          <p:cNvSpPr/>
          <p:nvPr/>
        </p:nvSpPr>
        <p:spPr>
          <a:xfrm rot="16200000">
            <a:off x="11379270" y="515463"/>
            <a:ext cx="1335672" cy="304747"/>
          </a:xfrm>
          <a:prstGeom prst="round2Same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>
                <a:solidFill>
                  <a:schemeClr val="bg1"/>
                </a:solidFill>
              </a:rPr>
              <a:t>Objetivos</a:t>
            </a:r>
          </a:p>
        </p:txBody>
      </p:sp>
      <p:sp>
        <p:nvSpPr>
          <p:cNvPr id="90" name="Título 2">
            <a:extLst>
              <a:ext uri="{FF2B5EF4-FFF2-40B4-BE49-F238E27FC236}">
                <a16:creationId xmlns:a16="http://schemas.microsoft.com/office/drawing/2014/main" id="{FB7650F2-B3ED-98B8-010C-FDBE411B997D}"/>
              </a:ext>
            </a:extLst>
          </p:cNvPr>
          <p:cNvSpPr txBox="1">
            <a:spLocks/>
          </p:cNvSpPr>
          <p:nvPr/>
        </p:nvSpPr>
        <p:spPr>
          <a:xfrm>
            <a:off x="237306" y="281467"/>
            <a:ext cx="11079981" cy="275775"/>
          </a:xfrm>
          <a:prstGeom prst="rect">
            <a:avLst/>
          </a:prstGeom>
        </p:spPr>
        <p:txBody>
          <a:bodyPr vert="horz"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/>
              <a:t>Ing. Electrónica – Nuevos – Presencial  |  Deserción Carrera: 44.2%   |   Deserción Prom.: 31.4%	    	      (1 de 1)</a:t>
            </a:r>
            <a:endParaRPr lang="es-PE" sz="1800"/>
          </a:p>
        </p:txBody>
      </p: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106AE0D5-C3C9-3223-90BC-27EE11596085}"/>
              </a:ext>
            </a:extLst>
          </p:cNvPr>
          <p:cNvCxnSpPr>
            <a:cxnSpLocks/>
          </p:cNvCxnSpPr>
          <p:nvPr/>
        </p:nvCxnSpPr>
        <p:spPr>
          <a:xfrm flipV="1">
            <a:off x="237307" y="551856"/>
            <a:ext cx="11090845" cy="538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4" name="Tabla 87">
            <a:extLst>
              <a:ext uri="{FF2B5EF4-FFF2-40B4-BE49-F238E27FC236}">
                <a16:creationId xmlns:a16="http://schemas.microsoft.com/office/drawing/2014/main" id="{8123362C-25E3-AADA-9F56-C56555BD5E97}"/>
              </a:ext>
            </a:extLst>
          </p:cNvPr>
          <p:cNvGraphicFramePr>
            <a:graphicFrameLocks noGrp="1"/>
          </p:cNvGraphicFramePr>
          <p:nvPr/>
        </p:nvGraphicFramePr>
        <p:xfrm>
          <a:off x="2527069" y="765174"/>
          <a:ext cx="8790219" cy="3939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73">
                  <a:extLst>
                    <a:ext uri="{9D8B030D-6E8A-4147-A177-3AD203B41FA5}">
                      <a16:colId xmlns:a16="http://schemas.microsoft.com/office/drawing/2014/main" val="2097900978"/>
                    </a:ext>
                  </a:extLst>
                </a:gridCol>
                <a:gridCol w="2930073">
                  <a:extLst>
                    <a:ext uri="{9D8B030D-6E8A-4147-A177-3AD203B41FA5}">
                      <a16:colId xmlns:a16="http://schemas.microsoft.com/office/drawing/2014/main" val="2375716192"/>
                    </a:ext>
                  </a:extLst>
                </a:gridCol>
                <a:gridCol w="2930073">
                  <a:extLst>
                    <a:ext uri="{9D8B030D-6E8A-4147-A177-3AD203B41FA5}">
                      <a16:colId xmlns:a16="http://schemas.microsoft.com/office/drawing/2014/main" val="3204138727"/>
                    </a:ext>
                  </a:extLst>
                </a:gridCol>
              </a:tblGrid>
              <a:tr h="124288">
                <a:tc>
                  <a:txBody>
                    <a:bodyPr/>
                    <a:lstStyle/>
                    <a:p>
                      <a:pPr algn="ctr"/>
                      <a:r>
                        <a:rPr lang="es-PE" sz="1200">
                          <a:latin typeface="+mn-lt"/>
                        </a:rPr>
                        <a:t>Pains / Razones de Deserción</a:t>
                      </a:r>
                    </a:p>
                  </a:txBody>
                  <a:tcPr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>
                          <a:latin typeface="+mn-lt"/>
                        </a:rPr>
                        <a:t>Hallazgo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>
                          <a:latin typeface="+mn-lt"/>
                        </a:rPr>
                        <a:t>Acción/Siguientes pasos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064005"/>
                  </a:ext>
                </a:extLst>
              </a:tr>
              <a:tr h="715454"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PE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Pagos - Problemas económicos. </a:t>
                      </a:r>
                      <a:r>
                        <a:rPr kumimoji="0" lang="es-PE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(2) Perdió de trabajo. / Gastos de salud.</a:t>
                      </a:r>
                    </a:p>
                  </a:txBody>
                  <a:tcPr marL="180000" marR="180000" marT="36000" marB="36000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PE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La empresa redujo personal por problemas económicos. / Tuvo un accidente y priorizó otros gastos.</a:t>
                      </a:r>
                    </a:p>
                  </a:txBody>
                  <a:tcPr marL="180000" marR="180000" marT="36000" marB="36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PE" sz="12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 aplica.</a:t>
                      </a:r>
                    </a:p>
                  </a:txBody>
                  <a:tcPr marL="180000" marR="180000" marT="36000" marB="36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039426"/>
                  </a:ext>
                </a:extLst>
              </a:tr>
              <a:tr h="715454"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PE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Trámites - Fechas de matrícula o cuotas. </a:t>
                      </a:r>
                      <a:r>
                        <a:rPr kumimoji="0" lang="es-PE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kumimoji="0" lang="es-PE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Desconocimiento de fechas de matrícula por razones propias</a:t>
                      </a:r>
                    </a:p>
                  </a:txBody>
                  <a:tcPr marL="180000" marR="180000" marT="36000" marB="36000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PE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El alumno se quedó incomunicado al perder su celular y no se enteró de las fechas de matrícula</a:t>
                      </a:r>
                    </a:p>
                  </a:txBody>
                  <a:tcPr marL="180000" marR="180000" marT="36000" marB="36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PE" sz="12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No aplica.</a:t>
                      </a:r>
                    </a:p>
                  </a:txBody>
                  <a:tcPr marL="180000" marR="180000" marT="36000" marB="36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47949"/>
                  </a:ext>
                </a:extLst>
              </a:tr>
              <a:tr h="715454"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PE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Familia / personal – Carrera no disponible. </a:t>
                      </a:r>
                      <a:r>
                        <a:rPr kumimoji="0" lang="es-PE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kumimoji="0" lang="es-PE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Prefiere otra carrera</a:t>
                      </a:r>
                    </a:p>
                  </a:txBody>
                  <a:tcPr marL="180000" marR="180000" marT="36000" marB="36000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PE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Quiere estudiar Educación Secundaria pero la UTP no tiene esa carrera. Se matriculó en otra universidad (no indica)</a:t>
                      </a:r>
                    </a:p>
                  </a:txBody>
                  <a:tcPr marL="180000" marR="180000" marT="36000" marB="36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PE" sz="12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No aplica.</a:t>
                      </a:r>
                    </a:p>
                  </a:txBody>
                  <a:tcPr marL="180000" marR="180000" marT="36000" marB="36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336813"/>
                  </a:ext>
                </a:extLst>
              </a:tr>
              <a:tr h="715454"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PE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Familia / personal - Problemas personales. </a:t>
                      </a:r>
                      <a:r>
                        <a:rPr kumimoji="0" lang="es-PE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(1) </a:t>
                      </a:r>
                      <a:r>
                        <a:rPr kumimoji="0" lang="es-PE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Problemas personales</a:t>
                      </a:r>
                    </a:p>
                  </a:txBody>
                  <a:tcPr marL="180000" marR="180000" marT="36000" marB="36000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PE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Problemas personales a mitad de ciclo.</a:t>
                      </a:r>
                    </a:p>
                  </a:txBody>
                  <a:tcPr marL="180000" marR="180000" marT="36000" marB="36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PE" sz="12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No aplica.</a:t>
                      </a:r>
                    </a:p>
                  </a:txBody>
                  <a:tcPr marL="180000" marR="180000" marT="36000" marB="36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897616"/>
                  </a:ext>
                </a:extLst>
              </a:tr>
              <a:tr h="715454"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PE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Cursos - Cursos 24/7.</a:t>
                      </a:r>
                      <a:r>
                        <a:rPr kumimoji="0" lang="es-PE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(1) </a:t>
                      </a:r>
                      <a:r>
                        <a:rPr kumimoji="0" lang="es-PE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Dificultad para entrar a plataformas</a:t>
                      </a:r>
                    </a:p>
                  </a:txBody>
                  <a:tcPr marL="180000" marR="180000" marT="36000" marB="36000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PE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Es complicado ingresar a UTP+class para los cursos virtuales, </a:t>
                      </a:r>
                    </a:p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PE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No se adapta a encontrar los contenidos.</a:t>
                      </a:r>
                    </a:p>
                  </a:txBody>
                  <a:tcPr marL="180000" marR="180000" marT="36000" marB="36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PE" sz="1200" b="0" i="1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Revisar contacto en campaña de Bienvenida.</a:t>
                      </a:r>
                    </a:p>
                  </a:txBody>
                  <a:tcPr marL="180000" marR="180000" marT="36000" marB="360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794585"/>
                  </a:ext>
                </a:extLst>
              </a:tr>
            </a:tbl>
          </a:graphicData>
        </a:graphic>
      </p:graphicFrame>
      <p:graphicFrame>
        <p:nvGraphicFramePr>
          <p:cNvPr id="20" name="Tabla 8">
            <a:extLst>
              <a:ext uri="{FF2B5EF4-FFF2-40B4-BE49-F238E27FC236}">
                <a16:creationId xmlns:a16="http://schemas.microsoft.com/office/drawing/2014/main" id="{526CCFD0-6BA4-36C6-3814-31E574600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13890"/>
              </p:ext>
            </p:extLst>
          </p:nvPr>
        </p:nvGraphicFramePr>
        <p:xfrm>
          <a:off x="237307" y="968381"/>
          <a:ext cx="1274969" cy="2637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4969">
                  <a:extLst>
                    <a:ext uri="{9D8B030D-6E8A-4147-A177-3AD203B41FA5}">
                      <a16:colId xmlns:a16="http://schemas.microsoft.com/office/drawing/2014/main" val="2377770552"/>
                    </a:ext>
                  </a:extLst>
                </a:gridCol>
              </a:tblGrid>
              <a:tr h="271994"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chemeClr val="tx1"/>
                          </a:solidFill>
                          <a:latin typeface="+mj-lt"/>
                        </a:rPr>
                        <a:t>Carreras Masivas</a:t>
                      </a:r>
                    </a:p>
                  </a:txBody>
                  <a:tcPr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368407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chemeClr val="tx1"/>
                          </a:solidFill>
                          <a:latin typeface="+mj-lt"/>
                        </a:rPr>
                        <a:t>Carreras Faco</a:t>
                      </a:r>
                    </a:p>
                  </a:txBody>
                  <a:tcPr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133921"/>
                  </a:ext>
                </a:extLst>
              </a:tr>
              <a:tr h="296091">
                <a:tc>
                  <a:txBody>
                    <a:bodyPr/>
                    <a:lstStyle/>
                    <a:p>
                      <a:r>
                        <a:rPr lang="es-PE" sz="1100" b="1">
                          <a:solidFill>
                            <a:schemeClr val="tx1"/>
                          </a:solidFill>
                          <a:latin typeface="+mj-lt"/>
                        </a:rPr>
                        <a:t>Salud</a:t>
                      </a:r>
                    </a:p>
                  </a:txBody>
                  <a:tcPr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805321"/>
                  </a:ext>
                </a:extLst>
              </a:tr>
              <a:tr h="438284">
                <a:tc>
                  <a:txBody>
                    <a:bodyPr/>
                    <a:lstStyle/>
                    <a:p>
                      <a:r>
                        <a:rPr lang="es-PE" sz="1100" b="1" dirty="0">
                          <a:solidFill>
                            <a:schemeClr val="tx1"/>
                          </a:solidFill>
                          <a:latin typeface="+mj-lt"/>
                        </a:rPr>
                        <a:t>Carreras No Masivas</a:t>
                      </a:r>
                    </a:p>
                  </a:txBody>
                  <a:tcPr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845131"/>
                  </a:ext>
                </a:extLst>
              </a:tr>
              <a:tr h="438284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s-MX" sz="105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Ing. Automotriz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s-MX" sz="105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Ing. Electrónica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s-MX" sz="105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Ing. Mecánica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s-MX" sz="105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Ing. </a:t>
                      </a:r>
                      <a:r>
                        <a:rPr lang="es-MX" sz="105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Eléct</a:t>
                      </a:r>
                      <a:r>
                        <a:rPr lang="es-MX" sz="105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.-Pot.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s-MX" sz="105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Ing. </a:t>
                      </a:r>
                      <a:r>
                        <a:rPr lang="es-MX" sz="105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Seg</a:t>
                      </a:r>
                      <a:r>
                        <a:rPr lang="es-MX" sz="105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 </a:t>
                      </a:r>
                      <a:r>
                        <a:rPr lang="es-MX" sz="105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Ind</a:t>
                      </a:r>
                      <a:r>
                        <a:rPr lang="es-MX" sz="105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.-Min.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s-MX" sz="105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Dis</a:t>
                      </a:r>
                      <a:r>
                        <a:rPr lang="es-MX" sz="105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 Interiores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s-MX" sz="105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Economía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s-MX" sz="105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Ing. Ambiental</a:t>
                      </a:r>
                    </a:p>
                  </a:txBody>
                  <a:tcPr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871068"/>
                  </a:ext>
                </a:extLst>
              </a:tr>
            </a:tbl>
          </a:graphicData>
        </a:graphic>
      </p:graphicFrame>
      <p:grpSp>
        <p:nvGrpSpPr>
          <p:cNvPr id="21" name="Grupo 20">
            <a:extLst>
              <a:ext uri="{FF2B5EF4-FFF2-40B4-BE49-F238E27FC236}">
                <a16:creationId xmlns:a16="http://schemas.microsoft.com/office/drawing/2014/main" id="{1637D522-B7F7-9CFF-56CA-54B550D2638D}"/>
              </a:ext>
            </a:extLst>
          </p:cNvPr>
          <p:cNvGrpSpPr/>
          <p:nvPr/>
        </p:nvGrpSpPr>
        <p:grpSpPr>
          <a:xfrm>
            <a:off x="241812" y="2537427"/>
            <a:ext cx="1554747" cy="318221"/>
            <a:chOff x="232287" y="2768379"/>
            <a:chExt cx="1554747" cy="318221"/>
          </a:xfrm>
        </p:grpSpPr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FEB22C8-EFA2-E537-9279-013AF5117824}"/>
                </a:ext>
              </a:extLst>
            </p:cNvPr>
            <p:cNvSpPr/>
            <p:nvPr/>
          </p:nvSpPr>
          <p:spPr>
            <a:xfrm>
              <a:off x="232287" y="2827776"/>
              <a:ext cx="1296000" cy="199429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2823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3" name="Flecha derecha 36">
              <a:extLst>
                <a:ext uri="{FF2B5EF4-FFF2-40B4-BE49-F238E27FC236}">
                  <a16:creationId xmlns:a16="http://schemas.microsoft.com/office/drawing/2014/main" id="{343AB27F-E9FB-9CC0-55DE-120DE3C9A219}"/>
                </a:ext>
              </a:extLst>
            </p:cNvPr>
            <p:cNvSpPr/>
            <p:nvPr/>
          </p:nvSpPr>
          <p:spPr>
            <a:xfrm>
              <a:off x="1508064" y="2768379"/>
              <a:ext cx="278970" cy="318221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b="1"/>
            </a:p>
          </p:txBody>
        </p:sp>
      </p:grp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945688E-9F62-B1C8-EB30-DFBCE2961424}"/>
              </a:ext>
            </a:extLst>
          </p:cNvPr>
          <p:cNvSpPr/>
          <p:nvPr/>
        </p:nvSpPr>
        <p:spPr>
          <a:xfrm>
            <a:off x="5313211" y="3759310"/>
            <a:ext cx="135089" cy="137865"/>
          </a:xfrm>
          <a:prstGeom prst="rect">
            <a:avLst/>
          </a:prstGeom>
          <a:solidFill>
            <a:srgbClr val="00B4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0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3F78124-49E2-8090-881C-9C2AA114C0D2}"/>
              </a:ext>
            </a:extLst>
          </p:cNvPr>
          <p:cNvSpPr/>
          <p:nvPr/>
        </p:nvSpPr>
        <p:spPr>
          <a:xfrm>
            <a:off x="5313211" y="4567533"/>
            <a:ext cx="135089" cy="137865"/>
          </a:xfrm>
          <a:prstGeom prst="rect">
            <a:avLst/>
          </a:prstGeom>
          <a:solidFill>
            <a:srgbClr val="00B4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0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23B7BB5-0A85-F181-4E1C-63D57AB453F0}"/>
              </a:ext>
            </a:extLst>
          </p:cNvPr>
          <p:cNvSpPr/>
          <p:nvPr/>
        </p:nvSpPr>
        <p:spPr>
          <a:xfrm>
            <a:off x="5313211" y="3043692"/>
            <a:ext cx="135089" cy="1378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0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C811DA28-E200-E658-AF41-BD70C815F8B1}"/>
              </a:ext>
            </a:extLst>
          </p:cNvPr>
          <p:cNvSpPr/>
          <p:nvPr/>
        </p:nvSpPr>
        <p:spPr>
          <a:xfrm>
            <a:off x="5313211" y="2327439"/>
            <a:ext cx="135089" cy="137865"/>
          </a:xfrm>
          <a:prstGeom prst="rect">
            <a:avLst/>
          </a:prstGeom>
          <a:solidFill>
            <a:srgbClr val="00B4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0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A3D8808-B78E-BB90-3243-63876C22C740}"/>
              </a:ext>
            </a:extLst>
          </p:cNvPr>
          <p:cNvSpPr/>
          <p:nvPr/>
        </p:nvSpPr>
        <p:spPr>
          <a:xfrm>
            <a:off x="5313211" y="1614107"/>
            <a:ext cx="135089" cy="137865"/>
          </a:xfrm>
          <a:prstGeom prst="rect">
            <a:avLst/>
          </a:prstGeom>
          <a:solidFill>
            <a:srgbClr val="00B4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000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48735A3D-1B83-8C67-A875-8E0C53A4C15F}"/>
              </a:ext>
            </a:extLst>
          </p:cNvPr>
          <p:cNvSpPr/>
          <p:nvPr/>
        </p:nvSpPr>
        <p:spPr>
          <a:xfrm>
            <a:off x="11337402" y="1203044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03778B9-7608-6331-AE15-8164192939D6}"/>
              </a:ext>
            </a:extLst>
          </p:cNvPr>
          <p:cNvSpPr/>
          <p:nvPr/>
        </p:nvSpPr>
        <p:spPr>
          <a:xfrm>
            <a:off x="11337402" y="1934564"/>
            <a:ext cx="288000" cy="2880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65DDB18-5188-2F2E-2E7D-05CA2989EDD5}"/>
              </a:ext>
            </a:extLst>
          </p:cNvPr>
          <p:cNvSpPr/>
          <p:nvPr/>
        </p:nvSpPr>
        <p:spPr>
          <a:xfrm>
            <a:off x="11337402" y="2666084"/>
            <a:ext cx="288000" cy="2880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0F9A5B4-1F15-224F-B521-9374939ED7F4}"/>
              </a:ext>
            </a:extLst>
          </p:cNvPr>
          <p:cNvSpPr/>
          <p:nvPr/>
        </p:nvSpPr>
        <p:spPr>
          <a:xfrm>
            <a:off x="11337402" y="3397604"/>
            <a:ext cx="288000" cy="2880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43" name="Tabla 42">
            <a:extLst>
              <a:ext uri="{FF2B5EF4-FFF2-40B4-BE49-F238E27FC236}">
                <a16:creationId xmlns:a16="http://schemas.microsoft.com/office/drawing/2014/main" id="{55DB41B6-CCC5-6C60-8F91-98DAC491DA4E}"/>
              </a:ext>
            </a:extLst>
          </p:cNvPr>
          <p:cNvGraphicFramePr>
            <a:graphicFrameLocks noGrp="1"/>
          </p:cNvGraphicFramePr>
          <p:nvPr/>
        </p:nvGraphicFramePr>
        <p:xfrm>
          <a:off x="2527068" y="5994076"/>
          <a:ext cx="7285014" cy="737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446">
                  <a:extLst>
                    <a:ext uri="{9D8B030D-6E8A-4147-A177-3AD203B41FA5}">
                      <a16:colId xmlns:a16="http://schemas.microsoft.com/office/drawing/2014/main" val="1550111779"/>
                    </a:ext>
                  </a:extLst>
                </a:gridCol>
                <a:gridCol w="809446">
                  <a:extLst>
                    <a:ext uri="{9D8B030D-6E8A-4147-A177-3AD203B41FA5}">
                      <a16:colId xmlns:a16="http://schemas.microsoft.com/office/drawing/2014/main" val="3383321387"/>
                    </a:ext>
                  </a:extLst>
                </a:gridCol>
                <a:gridCol w="809446">
                  <a:extLst>
                    <a:ext uri="{9D8B030D-6E8A-4147-A177-3AD203B41FA5}">
                      <a16:colId xmlns:a16="http://schemas.microsoft.com/office/drawing/2014/main" val="1051608797"/>
                    </a:ext>
                  </a:extLst>
                </a:gridCol>
                <a:gridCol w="809446">
                  <a:extLst>
                    <a:ext uri="{9D8B030D-6E8A-4147-A177-3AD203B41FA5}">
                      <a16:colId xmlns:a16="http://schemas.microsoft.com/office/drawing/2014/main" val="3809098974"/>
                    </a:ext>
                  </a:extLst>
                </a:gridCol>
                <a:gridCol w="809446">
                  <a:extLst>
                    <a:ext uri="{9D8B030D-6E8A-4147-A177-3AD203B41FA5}">
                      <a16:colId xmlns:a16="http://schemas.microsoft.com/office/drawing/2014/main" val="2670796486"/>
                    </a:ext>
                  </a:extLst>
                </a:gridCol>
                <a:gridCol w="809446">
                  <a:extLst>
                    <a:ext uri="{9D8B030D-6E8A-4147-A177-3AD203B41FA5}">
                      <a16:colId xmlns:a16="http://schemas.microsoft.com/office/drawing/2014/main" val="2860674581"/>
                    </a:ext>
                  </a:extLst>
                </a:gridCol>
                <a:gridCol w="809446">
                  <a:extLst>
                    <a:ext uri="{9D8B030D-6E8A-4147-A177-3AD203B41FA5}">
                      <a16:colId xmlns:a16="http://schemas.microsoft.com/office/drawing/2014/main" val="1661701884"/>
                    </a:ext>
                  </a:extLst>
                </a:gridCol>
                <a:gridCol w="809446">
                  <a:extLst>
                    <a:ext uri="{9D8B030D-6E8A-4147-A177-3AD203B41FA5}">
                      <a16:colId xmlns:a16="http://schemas.microsoft.com/office/drawing/2014/main" val="2974828131"/>
                    </a:ext>
                  </a:extLst>
                </a:gridCol>
                <a:gridCol w="809446">
                  <a:extLst>
                    <a:ext uri="{9D8B030D-6E8A-4147-A177-3AD203B41FA5}">
                      <a16:colId xmlns:a16="http://schemas.microsoft.com/office/drawing/2014/main" val="1917152643"/>
                    </a:ext>
                  </a:extLst>
                </a:gridCol>
              </a:tblGrid>
              <a:tr h="401758">
                <a:tc grid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200" b="1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Nuevos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sz="1000">
                        <a:latin typeface="+mj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 sz="1000">
                        <a:latin typeface="+mj-lt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lt"/>
                        </a:rPr>
                        <a:t>Año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sz="1000">
                        <a:latin typeface="+mj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 sz="1000">
                        <a:latin typeface="+mj-lt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PE" sz="12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lt"/>
                        </a:rPr>
                        <a:t>Antiguos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sz="1000">
                        <a:latin typeface="+mj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 sz="100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4484"/>
                  </a:ext>
                </a:extLst>
              </a:tr>
              <a:tr h="30557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800" b="1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Presencial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800" b="1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lt"/>
                          <a:ea typeface="+mn-ea"/>
                          <a:cs typeface="+mn-cs"/>
                        </a:rPr>
                        <a:t>Semipresencial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800" b="1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lt"/>
                          <a:ea typeface="+mn-ea"/>
                          <a:cs typeface="+mn-cs"/>
                        </a:rPr>
                        <a:t>A Distancia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8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lt"/>
                        </a:rPr>
                        <a:t>Presencial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8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lt"/>
                        </a:rPr>
                        <a:t>Semipresencial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8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lt"/>
                        </a:rPr>
                        <a:t>A Distancia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800" b="1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lt"/>
                          <a:ea typeface="+mn-ea"/>
                          <a:cs typeface="+mn-cs"/>
                        </a:rPr>
                        <a:t>Presencial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800" b="1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lt"/>
                          <a:ea typeface="+mn-ea"/>
                          <a:cs typeface="+mn-cs"/>
                        </a:rPr>
                        <a:t>Semipresencial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8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j-lt"/>
                        </a:rPr>
                        <a:t>A Distancia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71667"/>
                  </a:ext>
                </a:extLst>
              </a:tr>
            </a:tbl>
          </a:graphicData>
        </a:graphic>
      </p:graphicFrame>
      <p:graphicFrame>
        <p:nvGraphicFramePr>
          <p:cNvPr id="46" name="Tabla 45">
            <a:extLst>
              <a:ext uri="{FF2B5EF4-FFF2-40B4-BE49-F238E27FC236}">
                <a16:creationId xmlns:a16="http://schemas.microsoft.com/office/drawing/2014/main" id="{CA8B6CA8-4221-2947-61F4-4624785E8C1E}"/>
              </a:ext>
            </a:extLst>
          </p:cNvPr>
          <p:cNvGraphicFramePr>
            <a:graphicFrameLocks noGrp="1"/>
          </p:cNvGraphicFramePr>
          <p:nvPr/>
        </p:nvGraphicFramePr>
        <p:xfrm>
          <a:off x="9913031" y="5994076"/>
          <a:ext cx="1496401" cy="848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143">
                  <a:extLst>
                    <a:ext uri="{9D8B030D-6E8A-4147-A177-3AD203B41FA5}">
                      <a16:colId xmlns:a16="http://schemas.microsoft.com/office/drawing/2014/main" val="737165454"/>
                    </a:ext>
                  </a:extLst>
                </a:gridCol>
                <a:gridCol w="824258">
                  <a:extLst>
                    <a:ext uri="{9D8B030D-6E8A-4147-A177-3AD203B41FA5}">
                      <a16:colId xmlns:a16="http://schemas.microsoft.com/office/drawing/2014/main" val="3680837276"/>
                    </a:ext>
                  </a:extLst>
                </a:gridCol>
              </a:tblGrid>
              <a:tr h="2357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PE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Muestra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kumimoji="0" lang="es-PE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180000" marT="36000" marB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244788"/>
                  </a:ext>
                </a:extLst>
              </a:tr>
              <a:tr h="2357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PE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Desertores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PE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180000" marR="180000" marT="36000" marB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52880"/>
                  </a:ext>
                </a:extLst>
              </a:tr>
              <a:tr h="2357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PE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Alumnos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PE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marL="180000" marR="180000" marT="36000" marB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137939"/>
                  </a:ext>
                </a:extLst>
              </a:tr>
            </a:tbl>
          </a:graphicData>
        </a:graphic>
      </p:graphicFrame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E9C9A1C5-471C-276B-F3ED-FBB4AFFE6B8E}"/>
              </a:ext>
            </a:extLst>
          </p:cNvPr>
          <p:cNvGraphicFramePr>
            <a:graphicFrameLocks noGrp="1"/>
          </p:cNvGraphicFramePr>
          <p:nvPr/>
        </p:nvGraphicFramePr>
        <p:xfrm>
          <a:off x="232287" y="6294124"/>
          <a:ext cx="2015295" cy="416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896">
                  <a:extLst>
                    <a:ext uri="{9D8B030D-6E8A-4147-A177-3AD203B41FA5}">
                      <a16:colId xmlns:a16="http://schemas.microsoft.com/office/drawing/2014/main" val="1384901431"/>
                    </a:ext>
                  </a:extLst>
                </a:gridCol>
                <a:gridCol w="984399">
                  <a:extLst>
                    <a:ext uri="{9D8B030D-6E8A-4147-A177-3AD203B41FA5}">
                      <a16:colId xmlns:a16="http://schemas.microsoft.com/office/drawing/2014/main" val="164786928"/>
                    </a:ext>
                  </a:extLst>
                </a:gridCol>
              </a:tblGrid>
              <a:tr h="222924">
                <a:tc>
                  <a:txBody>
                    <a:bodyPr/>
                    <a:lstStyle/>
                    <a:p>
                      <a:pPr algn="ctr"/>
                      <a:r>
                        <a:rPr lang="es-PE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Var vs des. </a:t>
                      </a:r>
                      <a:r>
                        <a:rPr lang="es-PE" sz="8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prom</a:t>
                      </a:r>
                      <a:r>
                        <a:rPr lang="es-PE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indent="0" algn="ctr">
                        <a:tabLst/>
                      </a:pPr>
                      <a:r>
                        <a:rPr lang="es-PE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Var. vs periodo </a:t>
                      </a:r>
                      <a:r>
                        <a:rPr lang="es-PE" sz="8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ant</a:t>
                      </a:r>
                      <a:r>
                        <a:rPr lang="es-PE" sz="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.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997946"/>
                  </a:ext>
                </a:extLst>
              </a:tr>
              <a:tr h="1723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PE" sz="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Muy encima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s-MX" sz="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Empeora</a:t>
                      </a:r>
                      <a:endParaRPr kumimoji="0" lang="es-PE" sz="800" b="1" i="0" u="none" strike="noStrike" kern="1200" cap="none" spc="0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106523"/>
                  </a:ext>
                </a:extLst>
              </a:tr>
            </a:tbl>
          </a:graphicData>
        </a:graphic>
      </p:graphicFrame>
      <p:grpSp>
        <p:nvGrpSpPr>
          <p:cNvPr id="12" name="Grupo 11">
            <a:extLst>
              <a:ext uri="{FF2B5EF4-FFF2-40B4-BE49-F238E27FC236}">
                <a16:creationId xmlns:a16="http://schemas.microsoft.com/office/drawing/2014/main" id="{2155F50E-0D81-E10F-0BD7-8702BDB83037}"/>
              </a:ext>
            </a:extLst>
          </p:cNvPr>
          <p:cNvGrpSpPr/>
          <p:nvPr/>
        </p:nvGrpSpPr>
        <p:grpSpPr>
          <a:xfrm>
            <a:off x="232287" y="5691959"/>
            <a:ext cx="2035255" cy="540566"/>
            <a:chOff x="232287" y="5349059"/>
            <a:chExt cx="2035255" cy="540566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5EDF37C7-3A2E-3564-4DFE-24894C5D0385}"/>
                </a:ext>
              </a:extLst>
            </p:cNvPr>
            <p:cNvSpPr/>
            <p:nvPr/>
          </p:nvSpPr>
          <p:spPr>
            <a:xfrm>
              <a:off x="232287" y="5349059"/>
              <a:ext cx="2015295" cy="5405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800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B0C896E5-D2F5-0CD5-08D8-139E7A49D361}"/>
                </a:ext>
              </a:extLst>
            </p:cNvPr>
            <p:cNvSpPr/>
            <p:nvPr/>
          </p:nvSpPr>
          <p:spPr>
            <a:xfrm>
              <a:off x="341321" y="5566960"/>
              <a:ext cx="100921" cy="107386"/>
            </a:xfrm>
            <a:prstGeom prst="rect">
              <a:avLst/>
            </a:prstGeom>
            <a:solidFill>
              <a:srgbClr val="00B49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800">
                <a:latin typeface="+mj-lt"/>
              </a:endParaRP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AEB5C648-C664-0C84-18F8-F827804C4129}"/>
                </a:ext>
              </a:extLst>
            </p:cNvPr>
            <p:cNvSpPr/>
            <p:nvPr/>
          </p:nvSpPr>
          <p:spPr>
            <a:xfrm>
              <a:off x="341321" y="5699579"/>
              <a:ext cx="100920" cy="10738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800">
                <a:latin typeface="+mj-lt"/>
              </a:endParaRP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40E5A643-4171-5011-B358-4751E1543094}"/>
                </a:ext>
              </a:extLst>
            </p:cNvPr>
            <p:cNvSpPr/>
            <p:nvPr/>
          </p:nvSpPr>
          <p:spPr>
            <a:xfrm>
              <a:off x="1201366" y="5581106"/>
              <a:ext cx="936001" cy="1073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>
                <a:lnSpc>
                  <a:spcPts val="500"/>
                </a:lnSpc>
              </a:pPr>
              <a:r>
                <a:rPr lang="es-PE" sz="800">
                  <a:solidFill>
                    <a:schemeClr val="tx1"/>
                  </a:solidFill>
                  <a:latin typeface="+mj-lt"/>
                </a:rPr>
                <a:t>No tan accionable</a:t>
              </a: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C4B980DD-F477-029E-7810-C00DF8105657}"/>
                </a:ext>
              </a:extLst>
            </p:cNvPr>
            <p:cNvSpPr/>
            <p:nvPr/>
          </p:nvSpPr>
          <p:spPr>
            <a:xfrm>
              <a:off x="1201366" y="5716370"/>
              <a:ext cx="1066176" cy="85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>
                <a:lnSpc>
                  <a:spcPts val="500"/>
                </a:lnSpc>
              </a:pPr>
              <a:r>
                <a:rPr lang="es-PE" sz="800">
                  <a:solidFill>
                    <a:schemeClr val="tx1"/>
                  </a:solidFill>
                  <a:latin typeface="+mj-lt"/>
                </a:rPr>
                <a:t>Profundizar y validar</a:t>
              </a:r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32E2CDE8-188F-100C-8CB9-C85BBFE4832C}"/>
                </a:ext>
              </a:extLst>
            </p:cNvPr>
            <p:cNvSpPr/>
            <p:nvPr/>
          </p:nvSpPr>
          <p:spPr>
            <a:xfrm>
              <a:off x="1094414" y="5568349"/>
              <a:ext cx="90446" cy="9479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800">
                <a:latin typeface="+mj-lt"/>
              </a:endParaRPr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3CEC4ABD-1481-26FD-5CA4-3430CD0693FD}"/>
                </a:ext>
              </a:extLst>
            </p:cNvPr>
            <p:cNvSpPr/>
            <p:nvPr/>
          </p:nvSpPr>
          <p:spPr>
            <a:xfrm>
              <a:off x="299209" y="5394703"/>
              <a:ext cx="748232" cy="1073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r>
                <a:rPr lang="es-PE" sz="800" b="1" u="sng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Leyenda</a:t>
              </a:r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67FDBF46-29C4-B98D-E09C-25FC67F54C2E}"/>
                </a:ext>
              </a:extLst>
            </p:cNvPr>
            <p:cNvSpPr/>
            <p:nvPr/>
          </p:nvSpPr>
          <p:spPr>
            <a:xfrm>
              <a:off x="1094414" y="5692599"/>
              <a:ext cx="90446" cy="9479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800">
                <a:latin typeface="+mj-lt"/>
              </a:endParaRPr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3E43DF18-4554-FF89-5BCC-33E3330F88D8}"/>
                </a:ext>
              </a:extLst>
            </p:cNvPr>
            <p:cNvSpPr/>
            <p:nvPr/>
          </p:nvSpPr>
          <p:spPr>
            <a:xfrm>
              <a:off x="453219" y="5592361"/>
              <a:ext cx="696952" cy="1073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>
                <a:lnSpc>
                  <a:spcPts val="500"/>
                </a:lnSpc>
              </a:pPr>
              <a:r>
                <a:rPr lang="es-PE" sz="800">
                  <a:solidFill>
                    <a:schemeClr val="tx1"/>
                  </a:solidFill>
                  <a:latin typeface="+mj-lt"/>
                </a:rPr>
                <a:t>Transversal</a:t>
              </a:r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E513C3A1-F03C-1283-B125-4E4C2B9CC638}"/>
                </a:ext>
              </a:extLst>
            </p:cNvPr>
            <p:cNvSpPr/>
            <p:nvPr/>
          </p:nvSpPr>
          <p:spPr>
            <a:xfrm>
              <a:off x="453219" y="5732819"/>
              <a:ext cx="696952" cy="853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>
                <a:lnSpc>
                  <a:spcPts val="500"/>
                </a:lnSpc>
              </a:pPr>
              <a:r>
                <a:rPr lang="es-PE" sz="800">
                  <a:solidFill>
                    <a:schemeClr val="tx1"/>
                  </a:solidFill>
                  <a:latin typeface="+mj-lt"/>
                </a:rPr>
                <a:t>Específico</a:t>
              </a:r>
            </a:p>
          </p:txBody>
        </p:sp>
      </p:grpSp>
      <p:sp>
        <p:nvSpPr>
          <p:cNvPr id="40" name="Elipse 39">
            <a:extLst>
              <a:ext uri="{FF2B5EF4-FFF2-40B4-BE49-F238E27FC236}">
                <a16:creationId xmlns:a16="http://schemas.microsoft.com/office/drawing/2014/main" id="{FFA42D1B-6684-129A-F0BF-00BD2C9CD5AA}"/>
              </a:ext>
            </a:extLst>
          </p:cNvPr>
          <p:cNvSpPr/>
          <p:nvPr/>
        </p:nvSpPr>
        <p:spPr>
          <a:xfrm>
            <a:off x="11340161" y="4129124"/>
            <a:ext cx="288000" cy="2880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1" name="Título 2">
            <a:extLst>
              <a:ext uri="{FF2B5EF4-FFF2-40B4-BE49-F238E27FC236}">
                <a16:creationId xmlns:a16="http://schemas.microsoft.com/office/drawing/2014/main" id="{7937AD09-89C6-BF9D-01D9-5FF5E860DC4B}"/>
              </a:ext>
            </a:extLst>
          </p:cNvPr>
          <p:cNvSpPr txBox="1">
            <a:spLocks/>
          </p:cNvSpPr>
          <p:nvPr/>
        </p:nvSpPr>
        <p:spPr>
          <a:xfrm>
            <a:off x="2509432" y="4924572"/>
            <a:ext cx="7660702" cy="893697"/>
          </a:xfrm>
          <a:prstGeom prst="rect">
            <a:avLst/>
          </a:prstGeom>
        </p:spPr>
        <p:txBody>
          <a:bodyPr vert="horz"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600" b="1"/>
              <a:t>Se validó las mallas y se encontró que en los primeros ciclos se tienen cursos generales: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/>
              <a:t>A comparación de UPC o UPN que tienen al menos 1 curso de introducción.</a:t>
            </a:r>
          </a:p>
          <a:p>
            <a:r>
              <a:rPr lang="es-ES" sz="1600" b="1"/>
              <a:t>También vimos que esta carrera tiene mayor peso en C y D en la estimación por distritos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/>
              <a:t>32% NSE C y 63% NSE D vs el comparable del segmento 41% en NSE C y 26% en NSE D.</a:t>
            </a:r>
            <a:endParaRPr lang="es-PE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1"/>
          </a:p>
        </p:txBody>
      </p:sp>
    </p:spTree>
    <p:extLst>
      <p:ext uri="{BB962C8B-B14F-4D97-AF65-F5344CB8AC3E}">
        <p14:creationId xmlns:p14="http://schemas.microsoft.com/office/powerpoint/2010/main" val="9135908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</Words>
  <Application>Microsoft Office PowerPoint</Application>
  <PresentationFormat>Panorámica</PresentationFormat>
  <Paragraphs>69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Tema de Office</vt:lpstr>
      <vt:lpstr>Diapositiva de think-cell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Brayan Ernesto Chumpitaz Angeles</dc:creator>
  <cp:lastModifiedBy>Brayan Ernesto Chumpitaz Angeles</cp:lastModifiedBy>
  <cp:revision>2</cp:revision>
  <dcterms:created xsi:type="dcterms:W3CDTF">2026-06-17T20:59:44Z</dcterms:created>
  <dcterms:modified xsi:type="dcterms:W3CDTF">2026-06-19T00:40:40Z</dcterms:modified>
</cp:coreProperties>
</file>